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59" r:id="rId6"/>
    <p:sldId id="326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25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f3ab960327_320_1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f3ab960327_320_1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f3ab960327_320_2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3f3ab960327_320_2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itle Blue 2">
  <p:cSld name="4 Title Blue 2">
    <p:bg>
      <p:bgPr>
        <a:solidFill>
          <a:srgbClr val="CFE9FE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 title="Blue Gradi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571500" y="571500"/>
            <a:ext cx="6921600" cy="3575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571500" y="4307205"/>
            <a:ext cx="6467400" cy="82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2133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2"/>
          </p:nvPr>
        </p:nvSpPr>
        <p:spPr>
          <a:xfrm>
            <a:off x="571500" y="5360670"/>
            <a:ext cx="6467400" cy="77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1733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9" name="Google Shape;29;p4" descr="HDD_ATH_SALESFORCE_ICON_AGENTFORCE_V3_R2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860002" flipH="1">
            <a:off x="8065755" y="2072680"/>
            <a:ext cx="876865" cy="870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 title="BE-MVP-Icon-Spark_Redux_V3_STRAIGHT_yellow.png"/>
          <p:cNvPicPr preferRelativeResize="0"/>
          <p:nvPr/>
        </p:nvPicPr>
        <p:blipFill rotWithShape="1">
          <a:blip r:embed="rId4">
            <a:alphaModFix/>
          </a:blip>
          <a:srcRect t="2562" b="2562"/>
          <a:stretch/>
        </p:blipFill>
        <p:spPr>
          <a:xfrm>
            <a:off x="8113049" y="3784933"/>
            <a:ext cx="566616" cy="57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 title="BE-MVP-Icon-Spark_Redux_V3_STRAIGHT_yellow.png"/>
          <p:cNvPicPr preferRelativeResize="0"/>
          <p:nvPr/>
        </p:nvPicPr>
        <p:blipFill rotWithShape="1">
          <a:blip r:embed="rId4">
            <a:alphaModFix/>
          </a:blip>
          <a:srcRect t="2562" b="2562"/>
          <a:stretch/>
        </p:blipFill>
        <p:spPr>
          <a:xfrm>
            <a:off x="7789190" y="3606870"/>
            <a:ext cx="241316" cy="244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 title="BE-MVP-Icon-Spark_Redux_V3_STRAIGHT_yellow.png"/>
          <p:cNvPicPr preferRelativeResize="0"/>
          <p:nvPr/>
        </p:nvPicPr>
        <p:blipFill rotWithShape="1">
          <a:blip r:embed="rId4">
            <a:alphaModFix/>
          </a:blip>
          <a:srcRect t="2562" b="2562"/>
          <a:stretch/>
        </p:blipFill>
        <p:spPr>
          <a:xfrm>
            <a:off x="8341787" y="3258626"/>
            <a:ext cx="109147" cy="110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 title="BE-MVP-Icon-Spark_Redux_V3_STRAIGHT_yellow.png"/>
          <p:cNvPicPr preferRelativeResize="0"/>
          <p:nvPr/>
        </p:nvPicPr>
        <p:blipFill rotWithShape="1">
          <a:blip r:embed="rId4">
            <a:alphaModFix/>
          </a:blip>
          <a:srcRect t="2562" b="2562"/>
          <a:stretch/>
        </p:blipFill>
        <p:spPr>
          <a:xfrm>
            <a:off x="11099540" y="1381674"/>
            <a:ext cx="347000" cy="35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 title="BE-MVP-Icon-Spark_Redux_V3_STRAIGHT_yellow.png"/>
          <p:cNvPicPr preferRelativeResize="0"/>
          <p:nvPr/>
        </p:nvPicPr>
        <p:blipFill rotWithShape="1">
          <a:blip r:embed="rId4">
            <a:alphaModFix/>
          </a:blip>
          <a:srcRect t="2562" b="2562"/>
          <a:stretch/>
        </p:blipFill>
        <p:spPr>
          <a:xfrm>
            <a:off x="10678917" y="2214766"/>
            <a:ext cx="185367" cy="187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 title="BE-MVP-Icon-Spark_Redux_V3_STRAIGHT_yellow.png"/>
          <p:cNvPicPr preferRelativeResize="0"/>
          <p:nvPr/>
        </p:nvPicPr>
        <p:blipFill rotWithShape="1">
          <a:blip r:embed="rId4">
            <a:alphaModFix/>
          </a:blip>
          <a:srcRect t="2562" b="2562"/>
          <a:stretch/>
        </p:blipFill>
        <p:spPr>
          <a:xfrm>
            <a:off x="11540743" y="2380335"/>
            <a:ext cx="109147" cy="110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 title="shadow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48918" y="5573750"/>
            <a:ext cx="3269847" cy="47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 title="Astro_trailblaz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95232" y="2450592"/>
            <a:ext cx="2109333" cy="3430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 descr="Group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60493" y="4174431"/>
            <a:ext cx="1753529" cy="122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 title="Astro_trailblazer_hand.png"/>
          <p:cNvPicPr preferRelativeResize="0"/>
          <p:nvPr/>
        </p:nvPicPr>
        <p:blipFill rotWithShape="1">
          <a:blip r:embed="rId8">
            <a:alphaModFix/>
          </a:blip>
          <a:srcRect t="32108" b="32105"/>
          <a:stretch/>
        </p:blipFill>
        <p:spPr>
          <a:xfrm>
            <a:off x="9095234" y="3552083"/>
            <a:ext cx="2109334" cy="1227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74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8 Thank you 2">
  <p:cSld name="48 Thank you 2">
    <p:bg>
      <p:bgPr>
        <a:solidFill>
          <a:schemeClr val="accent5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59" title="Blue Gradien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9"/>
          <p:cNvSpPr txBox="1"/>
          <p:nvPr/>
        </p:nvSpPr>
        <p:spPr>
          <a:xfrm>
            <a:off x="3625065" y="1975299"/>
            <a:ext cx="5103400" cy="1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9900"/>
              <a:buFont typeface="Questrial"/>
              <a:buNone/>
            </a:pPr>
            <a:r>
              <a:rPr lang="en" sz="13267" i="0" u="none" strike="noStrike" cap="none">
                <a:solidFill>
                  <a:srgbClr val="FFFEFE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Than</a:t>
            </a:r>
            <a:endParaRPr sz="733"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pic>
        <p:nvPicPr>
          <p:cNvPr id="686" name="Google Shape;686;p59" title="BE-MVP-Icon-Spark_Redux_V3_STRAIGHT_yellow.png"/>
          <p:cNvPicPr preferRelativeResize="0"/>
          <p:nvPr/>
        </p:nvPicPr>
        <p:blipFill rotWithShape="1">
          <a:blip r:embed="rId3">
            <a:alphaModFix/>
          </a:blip>
          <a:srcRect t="2562" b="2562"/>
          <a:stretch/>
        </p:blipFill>
        <p:spPr>
          <a:xfrm>
            <a:off x="3218139" y="3106183"/>
            <a:ext cx="533380" cy="540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59" title="BE-MVP-Icon-Spark_Redux_V3_STRAIGHT_yellow.png"/>
          <p:cNvPicPr preferRelativeResize="0"/>
          <p:nvPr/>
        </p:nvPicPr>
        <p:blipFill rotWithShape="1">
          <a:blip r:embed="rId3">
            <a:alphaModFix/>
          </a:blip>
          <a:srcRect t="2562" b="2562"/>
          <a:stretch/>
        </p:blipFill>
        <p:spPr>
          <a:xfrm>
            <a:off x="3050698" y="3637114"/>
            <a:ext cx="298775" cy="30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59" descr="HDD_ATH_SALESFORCE_ICON_AGENTFORCE_V3_R2 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04027" flipH="1">
            <a:off x="3424581" y="3405487"/>
            <a:ext cx="1184617" cy="117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59" title="shadow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5869" y="5237976"/>
            <a:ext cx="2514299" cy="3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9"/>
          <p:cNvSpPr txBox="1"/>
          <p:nvPr/>
        </p:nvSpPr>
        <p:spPr>
          <a:xfrm>
            <a:off x="7402501" y="1974303"/>
            <a:ext cx="1160600" cy="1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9900"/>
              <a:buFont typeface="Questrial"/>
              <a:buNone/>
            </a:pPr>
            <a:r>
              <a:rPr lang="en" sz="13267" i="0" u="none" strike="noStrike" cap="none">
                <a:solidFill>
                  <a:srgbClr val="FFFEFE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k</a:t>
            </a:r>
            <a:endParaRPr sz="733"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691" name="Google Shape;691;p59"/>
          <p:cNvSpPr txBox="1"/>
          <p:nvPr/>
        </p:nvSpPr>
        <p:spPr>
          <a:xfrm>
            <a:off x="4041831" y="3085561"/>
            <a:ext cx="1980000" cy="1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ctr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9900"/>
              <a:buFont typeface="Questrial"/>
              <a:buNone/>
            </a:pPr>
            <a:r>
              <a:rPr lang="en" sz="13267" i="0" u="none" strike="noStrike" cap="none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y</a:t>
            </a:r>
            <a:endParaRPr sz="733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sp>
        <p:nvSpPr>
          <p:cNvPr id="692" name="Google Shape;692;p59"/>
          <p:cNvSpPr txBox="1"/>
          <p:nvPr/>
        </p:nvSpPr>
        <p:spPr>
          <a:xfrm>
            <a:off x="5384115" y="3085567"/>
            <a:ext cx="2383400" cy="18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9900"/>
              <a:buFont typeface="Questrial"/>
              <a:buNone/>
            </a:pPr>
            <a:r>
              <a:rPr lang="en" sz="13267" i="0" u="none" strike="noStrike" cap="none">
                <a:solidFill>
                  <a:srgbClr val="FFFFFF"/>
                </a:solidFill>
                <a:latin typeface="Avant Garde Demi SFDC"/>
                <a:ea typeface="Avant Garde Demi SFDC"/>
                <a:cs typeface="Avant Garde Demi SFDC"/>
                <a:sym typeface="Avant Garde Demi SFDC"/>
              </a:rPr>
              <a:t>ou</a:t>
            </a:r>
            <a:endParaRPr sz="733">
              <a:solidFill>
                <a:srgbClr val="FFFFFF"/>
              </a:solidFill>
              <a:latin typeface="Avant Garde Demi SFDC"/>
              <a:ea typeface="Avant Garde Demi SFDC"/>
              <a:cs typeface="Avant Garde Demi SFDC"/>
              <a:sym typeface="Avant Garde Demi SFDC"/>
            </a:endParaRPr>
          </a:p>
        </p:txBody>
      </p:sp>
      <p:grpSp>
        <p:nvGrpSpPr>
          <p:cNvPr id="693" name="Google Shape;693;p59"/>
          <p:cNvGrpSpPr/>
          <p:nvPr/>
        </p:nvGrpSpPr>
        <p:grpSpPr>
          <a:xfrm>
            <a:off x="8028432" y="2813745"/>
            <a:ext cx="1635579" cy="2663950"/>
            <a:chOff x="13642848" y="3675888"/>
            <a:chExt cx="3164003" cy="5146072"/>
          </a:xfrm>
        </p:grpSpPr>
        <p:pic>
          <p:nvPicPr>
            <p:cNvPr id="694" name="Google Shape;694;p59" title="Astro_trailblazer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3642848" y="3675888"/>
              <a:ext cx="3163999" cy="51460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5" name="Google Shape;695;p59" descr="Group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3740739" y="6261646"/>
              <a:ext cx="2630294" cy="1841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6" name="Google Shape;696;p59" title="Astro_trailblazer_hand.png"/>
            <p:cNvPicPr preferRelativeResize="0"/>
            <p:nvPr/>
          </p:nvPicPr>
          <p:blipFill rotWithShape="1">
            <a:blip r:embed="rId8">
              <a:alphaModFix/>
            </a:blip>
            <a:srcRect t="32108" b="32105"/>
            <a:stretch/>
          </p:blipFill>
          <p:spPr>
            <a:xfrm>
              <a:off x="13642850" y="5328124"/>
              <a:ext cx="3164001" cy="1841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97" name="Google Shape;697;p59" title="BE-MVP-Icon-Spark_Redux_V3_STRAIGHT_yellow.png"/>
          <p:cNvPicPr preferRelativeResize="0"/>
          <p:nvPr/>
        </p:nvPicPr>
        <p:blipFill rotWithShape="1">
          <a:blip r:embed="rId3">
            <a:alphaModFix/>
          </a:blip>
          <a:srcRect t="2562" b="2562"/>
          <a:stretch/>
        </p:blipFill>
        <p:spPr>
          <a:xfrm>
            <a:off x="8684129" y="1952067"/>
            <a:ext cx="399908" cy="40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9" title="BE-MVP-Icon-Spark_Redux_V3_STRAIGHT_yellow.png"/>
          <p:cNvPicPr preferRelativeResize="0"/>
          <p:nvPr/>
        </p:nvPicPr>
        <p:blipFill rotWithShape="1">
          <a:blip r:embed="rId3">
            <a:alphaModFix/>
          </a:blip>
          <a:srcRect t="2562" b="2562"/>
          <a:stretch/>
        </p:blipFill>
        <p:spPr>
          <a:xfrm>
            <a:off x="8467775" y="1920687"/>
            <a:ext cx="176716" cy="178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827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2"/>
          <p:cNvSpPr txBox="1">
            <a:spLocks noGrp="1"/>
          </p:cNvSpPr>
          <p:nvPr>
            <p:ph type="title"/>
          </p:nvPr>
        </p:nvSpPr>
        <p:spPr>
          <a:xfrm>
            <a:off x="551720" y="2092365"/>
            <a:ext cx="6921600" cy="115946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l"/>
            <a:r>
              <a:rPr lang="en-US" b="1" dirty="0">
                <a:latin typeface="Avant Garde Demi SFDC" panose="020B0600000101010101" charset="0"/>
              </a:rPr>
              <a:t>SMC:</a:t>
            </a:r>
            <a:endParaRPr b="1" dirty="0">
              <a:latin typeface="Avant Garde Demi SFDC" panose="020B0600000101010101" charset="0"/>
            </a:endParaRPr>
          </a:p>
        </p:txBody>
      </p:sp>
      <p:sp>
        <p:nvSpPr>
          <p:cNvPr id="836" name="Google Shape;836;p72"/>
          <p:cNvSpPr txBox="1">
            <a:spLocks noGrp="1"/>
          </p:cNvSpPr>
          <p:nvPr>
            <p:ph type="subTitle" idx="1"/>
          </p:nvPr>
        </p:nvSpPr>
        <p:spPr>
          <a:xfrm>
            <a:off x="571500" y="3606176"/>
            <a:ext cx="6467400" cy="82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-US" altLang="ko-KR" sz="3600" b="1" dirty="0">
                <a:latin typeface="Avant Garde Demi SFDC" panose="020B0600000101010101" charset="0"/>
              </a:rPr>
              <a:t>Small Wedding Concierge</a:t>
            </a:r>
            <a:endParaRPr sz="3600" b="1" dirty="0">
              <a:latin typeface="Avant Garde Demi SFDC" panose="020B0600000101010101" charset="0"/>
            </a:endParaRPr>
          </a:p>
        </p:txBody>
      </p:sp>
      <p:sp>
        <p:nvSpPr>
          <p:cNvPr id="837" name="Google Shape;837;p72"/>
          <p:cNvSpPr txBox="1">
            <a:spLocks noGrp="1"/>
          </p:cNvSpPr>
          <p:nvPr>
            <p:ph type="subTitle" idx="2"/>
          </p:nvPr>
        </p:nvSpPr>
        <p:spPr>
          <a:xfrm>
            <a:off x="571500" y="5360667"/>
            <a:ext cx="2182400" cy="774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indent="0"/>
            <a:r>
              <a:rPr lang="en" b="1" dirty="0">
                <a:latin typeface="Avant Garde Demi SFDC" panose="020B0600000101010101" charset="0"/>
              </a:rPr>
              <a:t>Speaker </a:t>
            </a:r>
            <a:r>
              <a:rPr lang="en-US" b="1" dirty="0">
                <a:latin typeface="Avant Garde Demi SFDC" panose="020B0600000101010101" charset="0"/>
              </a:rPr>
              <a:t>YUMIN LEE</a:t>
            </a:r>
            <a:endParaRPr b="1" dirty="0">
              <a:latin typeface="Avant Garde Demi SFDC" panose="020B0600000101010101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F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2AC0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SIDE PROJECT · SALESFORCE PLATFORM</a:t>
            </a:r>
            <a:endParaRPr lang="en-US" sz="1200" dirty="0">
              <a:latin typeface="Avant Garde Demi SFDC" panose="020B0600000101010101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62179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스몰웨딩 컨시어지 CRM</a:t>
            </a:r>
            <a:endParaRPr lang="en-US" sz="3800" dirty="0">
              <a:latin typeface="Avant Garde Demi SFDC" panose="020B0600000101010101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장소 결정을 첫 단계로 삼아 설계한, </a:t>
            </a:r>
            <a:r>
              <a:rPr lang="ko-KR" altLang="en-US" sz="15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스몰</a:t>
            </a:r>
            <a:r>
              <a:rPr lang="en-US" sz="15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웨딩</a:t>
            </a:r>
            <a:r>
              <a:rPr lang="en-US" sz="15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준비 여정 지원 플랫폼</a:t>
            </a:r>
            <a:endParaRPr lang="en-US" sz="1500" dirty="0">
              <a:latin typeface="Avant Garde Demi SFDC" panose="020B0600000101010101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022AC0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" y="2126875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600" b="1" dirty="0" err="1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스몰웨딩은</a:t>
            </a:r>
            <a:r>
              <a:rPr lang="en-US" sz="160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정답이 </a:t>
            </a:r>
            <a:r>
              <a:rPr lang="en-US" sz="1600" b="1" dirty="0" err="1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없는</a:t>
            </a:r>
            <a:r>
              <a:rPr lang="en-US" sz="160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결혼</a:t>
            </a:r>
            <a:r>
              <a:rPr lang="ko-KR" altLang="en-US" sz="160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식</a:t>
            </a:r>
            <a:r>
              <a:rPr lang="en-US" altLang="ko-KR" sz="1600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”</a:t>
            </a:r>
            <a:endParaRPr lang="en-US" altLang="ko-KR" sz="1400" dirty="0">
              <a:solidFill>
                <a:srgbClr val="FFFFFF"/>
              </a:solidFill>
              <a:latin typeface="Avant Garde Demi SFDC" panose="020B0600000101010101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예비부부는</a:t>
            </a:r>
            <a:r>
              <a:rPr lang="en-US" sz="1200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무엇을 먼저 결정해야 할지, 자신에게 무엇이 정말 중요한지조차 정리되지 않은 채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장소·드레스·메이크업</a:t>
            </a:r>
            <a:r>
              <a:rPr lang="en-US" sz="1200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등 수십 개의 선택을 동시에 마주한다.</a:t>
            </a:r>
            <a:endParaRPr lang="en-US" sz="1200" dirty="0">
              <a:latin typeface="Avant Garde Demi SFDC" panose="020B0600000101010101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1E5B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794760"/>
            <a:ext cx="685800" cy="685800"/>
          </a:xfrm>
          <a:prstGeom prst="ellipse">
            <a:avLst/>
          </a:prstGeom>
          <a:solidFill>
            <a:srgbClr val="022AC0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959352"/>
            <a:ext cx="356616" cy="3566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91640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신부 (간접 사용자)</a:t>
            </a:r>
            <a:endParaRPr lang="en-US" sz="1700" dirty="0">
              <a:latin typeface="Avant Garde Demi SFDC" panose="020B0600000101010101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691640" y="4133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36세 · 영화 제작사 팀장 2년차 · 서울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22960" y="4645152"/>
            <a:ext cx="4754880" cy="0"/>
          </a:xfrm>
          <a:prstGeom prst="line">
            <a:avLst/>
          </a:prstGeom>
          <a:noFill/>
          <a:ln w="12700">
            <a:solidFill>
              <a:srgbClr val="AFC9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8463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평일 낮 시간 외엔 발품 팔 시간이 물리적으로 없음</a:t>
            </a:r>
            <a:endParaRPr lang="en-US" sz="1300" dirty="0">
              <a:latin typeface="Avant Garde Demi SFDC" panose="020B0600000101010101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하객 40명, 어르신 다수 → </a:t>
            </a:r>
            <a:r>
              <a:rPr lang="en-US" sz="1300" dirty="0" err="1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음식</a:t>
            </a:r>
            <a:r>
              <a:rPr lang="en-US" sz="13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주차가</a:t>
            </a:r>
            <a:r>
              <a:rPr lang="en-US" sz="13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핵심 조건</a:t>
            </a:r>
            <a:endParaRPr lang="en-US" sz="1300" dirty="0">
              <a:latin typeface="Avant Garde Demi SFDC" panose="020B0600000101010101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답사는 최대 2번으로 제한, 신중한 결정 원함</a:t>
            </a:r>
            <a:endParaRPr lang="en-US" sz="1300" dirty="0">
              <a:latin typeface="Avant Garde Demi SFDC" panose="020B0600000101010101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45352" y="3474720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1E5B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65392" y="3794760"/>
            <a:ext cx="685800" cy="685800"/>
          </a:xfrm>
          <a:prstGeom prst="ellipse">
            <a:avLst/>
          </a:prstGeom>
          <a:solidFill>
            <a:srgbClr val="00B3FF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3959352"/>
            <a:ext cx="356616" cy="35661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34072" y="37764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웨딩 컨시어지 상담사 (실사용자)</a:t>
            </a:r>
            <a:endParaRPr lang="en-US" sz="1700" dirty="0">
              <a:latin typeface="Avant Garde Demi SFDC" panose="020B0600000101010101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7434072" y="4133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동시에 신부 5~10명 상담 응대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6565392" y="4645152"/>
            <a:ext cx="4754880" cy="0"/>
          </a:xfrm>
          <a:prstGeom prst="line">
            <a:avLst/>
          </a:prstGeom>
          <a:noFill/>
          <a:ln w="12700">
            <a:solidFill>
              <a:srgbClr val="AFC9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11112" y="48463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웹폼 · 이메일 · 전화 문의 채널이 혼재</a:t>
            </a:r>
            <a:endParaRPr lang="en-US" sz="1300" dirty="0">
              <a:latin typeface="Avant Garde Demi SFDC" panose="020B0600000101010101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고객 조건을 매번 스프레드시트로 수기 대조</a:t>
            </a:r>
            <a:endParaRPr lang="en-US" sz="1300" dirty="0">
              <a:latin typeface="Avant Garde Demi SFDC" panose="020B0600000101010101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지난 상담 이력이 기록·조회되지 않음</a:t>
            </a:r>
            <a:endParaRPr lang="en-US" sz="1300" dirty="0">
              <a:latin typeface="Avant Garde Demi SFDC" panose="020B0600000101010101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F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핵심 기능과 차별화</a:t>
            </a:r>
            <a:endParaRPr lang="en-US" sz="3000" dirty="0">
              <a:latin typeface="Avant Garde Demi SFDC" panose="020B0600000101010101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정보를 나열하는 화면이 아니라, 판단을 대신 내려주는 화면</a:t>
            </a:r>
            <a:endParaRPr lang="en-US" sz="1350" dirty="0">
              <a:latin typeface="Avant Garde Demi SFDC" panose="020B0600000101010101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022AC0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0B3FF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2938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45920" y="1801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MVP 핵심 기능</a:t>
            </a:r>
            <a:endParaRPr lang="en-US" sz="1900" dirty="0">
              <a:latin typeface="Avant Garde Demi SFDC" panose="020B0600000101010101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2542032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EB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상담사가 조건(인원 · 예산 · 우선순위)을 입력하면,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D6EB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등록된</a:t>
            </a:r>
            <a:r>
              <a:rPr lang="en-US" sz="1200" dirty="0">
                <a:solidFill>
                  <a:srgbClr val="D6EB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식당 후보를 즉시 평가해 순위와 추천 근거를 자동으로 </a:t>
            </a:r>
            <a:r>
              <a:rPr lang="en-US" sz="1200" dirty="0" err="1">
                <a:solidFill>
                  <a:srgbClr val="D6EB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이메일</a:t>
            </a:r>
            <a:r>
              <a:rPr lang="en-US" sz="1200" dirty="0">
                <a:solidFill>
                  <a:srgbClr val="D6EB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D6EB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발송</a:t>
            </a:r>
            <a:endParaRPr lang="en-US" sz="1200" dirty="0">
              <a:latin typeface="Avant Garde Demi SFDC" panose="020B0600000101010101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86791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36941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탈락 조건 필터</a:t>
            </a:r>
            <a:endParaRPr lang="en-US" sz="1300" dirty="0">
              <a:latin typeface="Avant Garde Demi SFDC" panose="020B0600000101010101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554480" y="396849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E2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수용인원 · 지역 등 필수 조건 미달 후보 제외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914400" y="43708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48970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3159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가중치 스코어링</a:t>
            </a:r>
            <a:endParaRPr lang="en-US" sz="1300" dirty="0">
              <a:latin typeface="Avant Garde Demi SFDC" panose="020B0600000101010101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554480" y="459028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E2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고객별 우선순위를 반영해 동일 후보도 다르게 순위화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914400" y="49926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511149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49377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추천 근거 자동 생성</a:t>
            </a:r>
            <a:endParaRPr lang="en-US" sz="1300" dirty="0">
              <a:latin typeface="Avant Garde Demi SFDC" panose="020B0600000101010101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554480" y="52120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E2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Text Template으로 '왜 추천하는지' 문장 조립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914400" y="5614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" y="5733288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5595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결과 자동 발송</a:t>
            </a:r>
            <a:endParaRPr lang="en-US" sz="1300" dirty="0">
              <a:latin typeface="Avant Garde Demi SFDC" panose="020B0600000101010101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1554480" y="58338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E2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지도 링크 포함 이메일 + 확정/답사/재추천 액션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6355080" y="1417320"/>
            <a:ext cx="5330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유사 서비스 대비 차별점</a:t>
            </a:r>
            <a:endParaRPr lang="en-US" sz="1300" dirty="0">
              <a:latin typeface="Avant Garde Demi SFDC" panose="020B0600000101010101" charset="0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80406"/>
              </p:ext>
            </p:extLst>
          </p:nvPr>
        </p:nvGraphicFramePr>
        <p:xfrm>
          <a:off x="6355080" y="1801368"/>
          <a:ext cx="5532121" cy="2651760"/>
        </p:xfrm>
        <a:graphic>
          <a:graphicData uri="http://schemas.openxmlformats.org/drawingml/2006/table">
            <a:tbl>
              <a:tblPr/>
              <a:tblGrid>
                <a:gridCol w="75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6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A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서비스 (지도 · 개별 플랫폼)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A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 프로젝트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2A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2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형식이 제각각인 목록, 직접 비교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조건을 반영한 순위 + 근거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2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고객이 직접 대조하고 결정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시스템이 우선순위 반영해 대행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2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상담·추천 기록이 남지 않음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→ Opportunity로 이력 축적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2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단일 목적 서비스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1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장소 → 드레스 → 메이크업 단계 확장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C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Shape 24"/>
          <p:cNvSpPr/>
          <p:nvPr/>
        </p:nvSpPr>
        <p:spPr>
          <a:xfrm>
            <a:off x="6408870" y="4754880"/>
            <a:ext cx="174901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4E1C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Text 25"/>
          <p:cNvSpPr/>
          <p:nvPr/>
        </p:nvSpPr>
        <p:spPr>
          <a:xfrm>
            <a:off x="6554098" y="4754880"/>
            <a:ext cx="1472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즉시성 있는 응대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8237849" y="4754880"/>
            <a:ext cx="174901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C003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441032" y="4754880"/>
            <a:ext cx="13383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일관된 추천 품질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10066828" y="4754880"/>
            <a:ext cx="174901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F538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Text 29"/>
          <p:cNvSpPr/>
          <p:nvPr/>
        </p:nvSpPr>
        <p:spPr>
          <a:xfrm>
            <a:off x="10194128" y="4754880"/>
            <a:ext cx="1472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1E5B"/>
                </a:solidFill>
                <a:latin typeface="Salesforce sans"/>
                <a:ea typeface="Arial" pitchFamily="34" charset="-122"/>
                <a:cs typeface="Arial" pitchFamily="34" charset="-120"/>
              </a:rPr>
              <a:t>상담 이력의 데이터화</a:t>
            </a:r>
            <a:endParaRPr lang="en-US" sz="1150" dirty="0">
              <a:latin typeface="Salesforce sans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446520" y="5669280"/>
            <a:ext cx="5330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기존 서비스는 '정보'를, 컨시어지는 '사람의 직관'을 </a:t>
            </a:r>
            <a:r>
              <a:rPr lang="en-US" sz="10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준다</a:t>
            </a:r>
            <a:r>
              <a:rPr lang="en-US" sz="10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.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이 프로젝트는 여러 유입 채널을 하나의 파이프라인으로 모으고, 상담사의 </a:t>
            </a:r>
            <a:r>
              <a:rPr lang="en-US" sz="10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판단을</a:t>
            </a:r>
            <a:r>
              <a:rPr lang="en-US" sz="10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구조화한다</a:t>
            </a:r>
            <a:endParaRPr lang="en-US" sz="1000" dirty="0">
              <a:latin typeface="Avant Garde Demi SFDC" panose="020B0600000101010101" charset="0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5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F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0292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시나리오 구현 : Flow &amp; Apex</a:t>
            </a:r>
            <a:endParaRPr lang="en-US" sz="3000" dirty="0">
              <a:latin typeface="Avant Garde Demi SFDC" panose="020B0600000101010101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선언적 자동화(Flow)와 코드 로직(Apex)의 역할을 명확히 분리한 구조</a:t>
            </a:r>
            <a:endParaRPr lang="en-US" sz="1350" dirty="0">
              <a:latin typeface="Avant Garde Demi SFDC" panose="020B0600000101010101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1726692" cy="914400"/>
          </a:xfrm>
          <a:prstGeom prst="roundRect">
            <a:avLst>
              <a:gd name="adj" fmla="val 6000"/>
            </a:avLst>
          </a:prstGeom>
          <a:solidFill>
            <a:srgbClr val="022AC0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463040"/>
            <a:ext cx="1580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Lead 생성</a:t>
            </a:r>
            <a:endParaRPr lang="en-US" sz="1050" dirty="0">
              <a:latin typeface="Avant Garde Demi SFDC" panose="020B0600000101010101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(Web-to-Lead)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29612" y="146304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>
              <a:latin typeface="Avant Garde Demi SFDC" panose="020B0600000101010101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94204" y="1463040"/>
            <a:ext cx="1726692" cy="914400"/>
          </a:xfrm>
          <a:prstGeom prst="roundRect">
            <a:avLst>
              <a:gd name="adj" fmla="val 6000"/>
            </a:avLst>
          </a:prstGeom>
          <a:solidFill>
            <a:srgbClr val="00B3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67356" y="1463040"/>
            <a:ext cx="1580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Screen Flow</a:t>
            </a:r>
            <a:endParaRPr lang="en-US" sz="1050" dirty="0">
              <a:latin typeface="Avant Garde Demi SFDC" panose="020B0600000101010101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조건 확인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20896" y="146304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>
              <a:latin typeface="Avant Garde Demi SFDC" panose="020B0600000101010101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85488" y="1463040"/>
            <a:ext cx="1726692" cy="914400"/>
          </a:xfrm>
          <a:prstGeom prst="roundRect">
            <a:avLst>
              <a:gd name="adj" fmla="val 6000"/>
            </a:avLst>
          </a:prstGeom>
          <a:solidFill>
            <a:srgbClr val="022AC0"/>
          </a:solidFill>
          <a:ln/>
        </p:spPr>
      </p:sp>
      <p:sp>
        <p:nvSpPr>
          <p:cNvPr id="16" name="Text 14"/>
          <p:cNvSpPr/>
          <p:nvPr/>
        </p:nvSpPr>
        <p:spPr>
          <a:xfrm>
            <a:off x="4358640" y="1463040"/>
            <a:ext cx="1580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추천 로직 Flow</a:t>
            </a:r>
            <a:endParaRPr lang="en-US" sz="1050" dirty="0">
              <a:latin typeface="Avant Garde Demi SFDC" panose="020B0600000101010101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Get → Loop → Sort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12180" y="146304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>
              <a:latin typeface="Avant Garde Demi SFDC" panose="020B0600000101010101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76772" y="1463040"/>
            <a:ext cx="1726692" cy="914400"/>
          </a:xfrm>
          <a:prstGeom prst="roundRect">
            <a:avLst>
              <a:gd name="adj" fmla="val 6000"/>
            </a:avLst>
          </a:prstGeom>
          <a:solidFill>
            <a:srgbClr val="00B3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49924" y="1463040"/>
            <a:ext cx="1580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Email 자동발송</a:t>
            </a:r>
            <a:endParaRPr lang="en-US" sz="1050" dirty="0">
              <a:latin typeface="Avant Garde Demi SFDC" panose="020B0600000101010101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지도 + 근거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03464" y="146304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>
              <a:latin typeface="Avant Garde Demi SFDC" panose="020B0600000101010101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68056" y="1463040"/>
            <a:ext cx="1726692" cy="914400"/>
          </a:xfrm>
          <a:prstGeom prst="roundRect">
            <a:avLst>
              <a:gd name="adj" fmla="val 6000"/>
            </a:avLst>
          </a:prstGeom>
          <a:solidFill>
            <a:srgbClr val="022AC0"/>
          </a:solidFill>
          <a:ln/>
        </p:spPr>
      </p:sp>
      <p:sp>
        <p:nvSpPr>
          <p:cNvPr id="22" name="Text 20"/>
          <p:cNvSpPr/>
          <p:nvPr/>
        </p:nvSpPr>
        <p:spPr>
          <a:xfrm>
            <a:off x="8141208" y="1463040"/>
            <a:ext cx="1580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웹 액션 버튼</a:t>
            </a:r>
            <a:endParaRPr lang="en-US" sz="1050" dirty="0">
              <a:latin typeface="Avant Garde Demi SFDC" panose="020B0600000101010101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확정 · 답사 · 재추천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94748" y="146304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>
              <a:latin typeface="Avant Garde Demi SFDC" panose="020B0600000101010101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959340" y="1463040"/>
            <a:ext cx="1726692" cy="914400"/>
          </a:xfrm>
          <a:prstGeom prst="roundRect">
            <a:avLst>
              <a:gd name="adj" fmla="val 6000"/>
            </a:avLst>
          </a:prstGeom>
          <a:solidFill>
            <a:srgbClr val="00B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32492" y="1463040"/>
            <a:ext cx="1580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050" dirty="0">
              <a:latin typeface="Avant Garde Demi SFDC" panose="020B0600000101010101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→ Opportunity</a:t>
            </a:r>
            <a:endParaRPr lang="en-US" sz="1050" dirty="0">
              <a:latin typeface="Avant Garde Demi SFDC" panose="020B0600000101010101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274320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1E5B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3035808"/>
            <a:ext cx="566928" cy="566928"/>
          </a:xfrm>
          <a:prstGeom prst="ellipse">
            <a:avLst/>
          </a:prstGeom>
          <a:solidFill>
            <a:srgbClr val="022AC0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163824"/>
            <a:ext cx="310896" cy="3108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0876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Flow가 처리</a:t>
            </a:r>
            <a:endParaRPr lang="en-US" sz="1700" dirty="0">
              <a:latin typeface="Avant Garde Demi SFDC" panose="020B0600000101010101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41680" y="3774440"/>
            <a:ext cx="4922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Get Records + Loop로 Venue 조건 조회, 후보별 가중치 점수 계산</a:t>
            </a:r>
            <a:endParaRPr lang="en-US" sz="1200" dirty="0">
              <a:latin typeface="Avant Garde Demi SFDC" panose="020B0600000101010101" charset="0"/>
            </a:endParaRP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Sort → 상위 3개 추출 (Counter 변수로 Top N 구현)</a:t>
            </a:r>
            <a:endParaRPr lang="en-US" sz="1200" dirty="0">
              <a:latin typeface="Avant Garde Demi SFDC" panose="020B0600000101010101" charset="0"/>
            </a:endParaRP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Text Template으로 추천 근거 문장 자동 조립</a:t>
            </a:r>
            <a:endParaRPr lang="en-US" sz="1200" dirty="0">
              <a:latin typeface="Avant Garde Demi SFDC" panose="020B0600000101010101" charset="0"/>
            </a:endParaRP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Recommendation__c 생성 + Send Email Action 발송</a:t>
            </a:r>
            <a:endParaRPr lang="en-US" sz="1200" dirty="0">
              <a:latin typeface="Avant Garde Demi SFDC" panose="020B0600000101010101" charset="0"/>
            </a:endParaRP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Convert Lead 액션에서 SelectedPackage__c 기준 Opportunity Record Type 자동 매핑</a:t>
            </a:r>
            <a:endParaRPr lang="en-US" sz="1200" dirty="0">
              <a:latin typeface="Avant Garde Demi SFDC" panose="020B0600000101010101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245352" y="274320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1E5B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565392" y="3035808"/>
            <a:ext cx="566928" cy="566928"/>
          </a:xfrm>
          <a:prstGeom prst="ellipse">
            <a:avLst/>
          </a:prstGeom>
          <a:solidFill>
            <a:srgbClr val="022AC0"/>
          </a:solidFill>
          <a:ln/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163824"/>
            <a:ext cx="310896" cy="3108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251192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Apex가 처리</a:t>
            </a:r>
            <a:endParaRPr lang="en-US" sz="1700" dirty="0">
              <a:latin typeface="Avant Garde Demi SFDC" panose="020B0600000101010101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471920" y="3784600"/>
            <a:ext cx="4930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Experience Cloud Guest 페이지용 토큰 기반 추천 조회 컨트롤러</a:t>
            </a:r>
            <a:endParaRPr lang="en-US" sz="1200" dirty="0">
              <a:latin typeface="Avant Garde Demi SFDC" panose="020B0600000101010101" charset="0"/>
            </a:endParaRP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lightning-map에 넘길 Venue 좌표(Latitude/Longitude) 반환</a:t>
            </a:r>
            <a:endParaRPr lang="en-US" sz="1200" dirty="0">
              <a:latin typeface="Avant Garde Demi SFDC" panose="020B0600000101010101" charset="0"/>
            </a:endParaRP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확정 · 답사 · 재추천 버튼 클릭 → Lead 필드 즉시 업데이트 + Task 자동 생성</a:t>
            </a:r>
            <a:endParaRPr lang="en-US" sz="1200" dirty="0">
              <a:latin typeface="Avant Garde Demi SFDC" panose="020B0600000101010101" charset="0"/>
            </a:endParaRPr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with sharing으로 Lead 원본 정보는 노출하지 않고 결과만 반환</a:t>
            </a:r>
            <a:endParaRPr lang="en-US" sz="1200" dirty="0">
              <a:latin typeface="Avant Garde Demi SFDC" panose="020B0600000101010101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5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F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365760" y="1302512"/>
            <a:ext cx="2651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AFC9E8"/>
            </a:solidFill>
            <a:prstDash val="solid"/>
          </a:ln>
          <a:effectLst>
            <a:outerShdw blurRad="63500" dist="25400" dir="5400000" algn="bl" rotWithShape="0">
              <a:srgbClr val="001E5B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02512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022AC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457960"/>
            <a:ext cx="2651760" cy="155448"/>
          </a:xfrm>
          <a:prstGeom prst="rect">
            <a:avLst/>
          </a:prstGeom>
          <a:solidFill>
            <a:srgbClr val="022AC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13025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Lead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168656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GuestCount__c / BudgetPerPerson__c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VenueFoodPriority__c 등 3종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SelectedPackage__c (Lookup)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Status / CurrentStage__c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IsConverted, ConvertedOpportunityId (표준)</a:t>
            </a:r>
            <a:endParaRPr lang="en-US" sz="900" dirty="0">
              <a:latin typeface="Avant Garde Demi SFDC" panose="020B0600000101010101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36976" y="1302512"/>
            <a:ext cx="2651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AFC9E8"/>
            </a:solidFill>
            <a:prstDash val="solid"/>
          </a:ln>
          <a:effectLst>
            <a:outerShdw blurRad="63500" dist="25400" dir="5400000" algn="bl" rotWithShape="0">
              <a:srgbClr val="001E5B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1302512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022AC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36976" y="1457960"/>
            <a:ext cx="2651760" cy="155448"/>
          </a:xfrm>
          <a:prstGeom prst="rect">
            <a:avLst/>
          </a:prstGeom>
          <a:solidFill>
            <a:srgbClr val="022AC0"/>
          </a:solidFill>
          <a:ln/>
        </p:spPr>
      </p:sp>
      <p:sp>
        <p:nvSpPr>
          <p:cNvPr id="17" name="Text 15"/>
          <p:cNvSpPr/>
          <p:nvPr/>
        </p:nvSpPr>
        <p:spPr>
          <a:xfrm>
            <a:off x="3346704" y="13025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Recommendation__c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46704" y="168656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Lead__c (Lookup, N:1)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Opportunity__c (Lookup, 전환 후)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Venue__c (Lookup, N:1)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RecommendationType__c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MatchScore__c / Rank__c / ReasonText__c</a:t>
            </a:r>
            <a:endParaRPr lang="en-US" sz="900" dirty="0">
              <a:latin typeface="Avant Garde Demi SFDC" panose="020B0600000101010101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08192" y="1302512"/>
            <a:ext cx="2651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AFC9E8"/>
            </a:solidFill>
            <a:prstDash val="solid"/>
          </a:ln>
          <a:effectLst>
            <a:outerShdw blurRad="63500" dist="25400" dir="5400000" algn="bl" rotWithShape="0">
              <a:srgbClr val="001E5B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08192" y="1302512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022AC0"/>
          </a:solidFill>
          <a:ln/>
        </p:spPr>
      </p:sp>
      <p:sp>
        <p:nvSpPr>
          <p:cNvPr id="21" name="Shape 19"/>
          <p:cNvSpPr/>
          <p:nvPr/>
        </p:nvSpPr>
        <p:spPr>
          <a:xfrm>
            <a:off x="6108192" y="1457960"/>
            <a:ext cx="2651760" cy="155448"/>
          </a:xfrm>
          <a:prstGeom prst="rect">
            <a:avLst/>
          </a:prstGeom>
          <a:solidFill>
            <a:srgbClr val="022AC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3025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Venue__c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168656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MaxCapacity__c / PricePerPerson__c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FoodRating__c / ReviewCount__c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Parking·Transit 관련 필드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Latitude__c / Longitude__c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VenueType__c (Lookup) · IsEligible__c (Formula)</a:t>
            </a:r>
            <a:endParaRPr lang="en-US" sz="900" dirty="0">
              <a:latin typeface="Avant Garde Demi SFDC" panose="020B0600000101010101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979408" y="1302512"/>
            <a:ext cx="2651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AFC9E8"/>
            </a:solidFill>
            <a:prstDash val="solid"/>
          </a:ln>
          <a:effectLst>
            <a:outerShdw blurRad="63500" dist="25400" dir="5400000" algn="bl" rotWithShape="0">
              <a:srgbClr val="001E5B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79408" y="1302512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00B3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979408" y="1457960"/>
            <a:ext cx="2651760" cy="155448"/>
          </a:xfrm>
          <a:prstGeom prst="rect">
            <a:avLst/>
          </a:prstGeom>
          <a:solidFill>
            <a:srgbClr val="00B3FF"/>
          </a:solidFill>
          <a:ln/>
        </p:spPr>
      </p:sp>
      <p:sp>
        <p:nvSpPr>
          <p:cNvPr id="27" name="Text 25"/>
          <p:cNvSpPr/>
          <p:nvPr/>
        </p:nvSpPr>
        <p:spPr>
          <a:xfrm>
            <a:off x="9089136" y="130251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VenueType__c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89136" y="1686560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Pros__c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Cons__c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BestFor__c</a:t>
            </a:r>
            <a:endParaRPr lang="en-US" sz="900" dirty="0">
              <a:latin typeface="Avant Garde Demi SFDC" panose="020B0600000101010101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3743960"/>
            <a:ext cx="2651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AFC9E8"/>
            </a:solidFill>
            <a:prstDash val="solid"/>
          </a:ln>
          <a:effectLst>
            <a:outerShdw blurRad="63500" dist="25400" dir="5400000" algn="bl" rotWithShape="0">
              <a:srgbClr val="001E5B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43960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022AC0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3899408"/>
            <a:ext cx="2651760" cy="155448"/>
          </a:xfrm>
          <a:prstGeom prst="rect">
            <a:avLst/>
          </a:prstGeom>
          <a:solidFill>
            <a:srgbClr val="022AC0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" y="37439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5488" y="412800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Record Type: Basic/Standard/Premium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ConfirmedVenue__c (Lookup)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SelectedPackage__c (Lead에서 매핑)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StageName (Path, RT별 상이)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Amount / CloseDate</a:t>
            </a:r>
            <a:endParaRPr lang="en-US" sz="900" dirty="0">
              <a:latin typeface="Avant Garde Demi SFDC" panose="020B0600000101010101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36976" y="3743960"/>
            <a:ext cx="2651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AFC9E8"/>
            </a:solidFill>
            <a:prstDash val="solid"/>
          </a:ln>
          <a:effectLst>
            <a:outerShdw blurRad="63500" dist="25400" dir="5400000" algn="bl" rotWithShape="0">
              <a:srgbClr val="001E5B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36976" y="3743960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022AC0"/>
          </a:solidFill>
          <a:ln/>
        </p:spPr>
      </p:sp>
      <p:sp>
        <p:nvSpPr>
          <p:cNvPr id="36" name="Shape 34"/>
          <p:cNvSpPr/>
          <p:nvPr/>
        </p:nvSpPr>
        <p:spPr>
          <a:xfrm>
            <a:off x="3236976" y="3899408"/>
            <a:ext cx="2651760" cy="155448"/>
          </a:xfrm>
          <a:prstGeom prst="rect">
            <a:avLst/>
          </a:prstGeom>
          <a:solidFill>
            <a:srgbClr val="022AC0"/>
          </a:solidFill>
          <a:ln/>
        </p:spPr>
      </p:sp>
      <p:sp>
        <p:nvSpPr>
          <p:cNvPr id="37" name="Text 35"/>
          <p:cNvSpPr/>
          <p:nvPr/>
        </p:nvSpPr>
        <p:spPr>
          <a:xfrm>
            <a:off x="3346704" y="37439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OpportunityLineItem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46704" y="412800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OpportunityId (표준 Master-Detail)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PricebookEntryId (표준)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Quantity / UnitPrice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장소 · 드레스 · 메이크업 라인 구분</a:t>
            </a:r>
            <a:endParaRPr lang="en-US" sz="900" dirty="0">
              <a:latin typeface="Avant Garde Demi SFDC" panose="020B0600000101010101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08192" y="3743960"/>
            <a:ext cx="2651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AFC9E8"/>
            </a:solidFill>
            <a:prstDash val="solid"/>
          </a:ln>
          <a:effectLst>
            <a:outerShdw blurRad="63500" dist="25400" dir="5400000" algn="bl" rotWithShape="0">
              <a:srgbClr val="001E5B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08192" y="3743960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022AC0"/>
          </a:solidFill>
          <a:ln/>
        </p:spPr>
      </p:sp>
      <p:sp>
        <p:nvSpPr>
          <p:cNvPr id="41" name="Shape 39"/>
          <p:cNvSpPr/>
          <p:nvPr/>
        </p:nvSpPr>
        <p:spPr>
          <a:xfrm>
            <a:off x="6108192" y="3899408"/>
            <a:ext cx="2651760" cy="155448"/>
          </a:xfrm>
          <a:prstGeom prst="rect">
            <a:avLst/>
          </a:prstGeom>
          <a:solidFill>
            <a:srgbClr val="022AC0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37439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Product2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17920" y="412800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Name / Family (Venue·Dress·Makeup...)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PricebookEntry로 Pricebook2 가격 연결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IsActive</a:t>
            </a:r>
            <a:endParaRPr lang="en-US" sz="900" dirty="0">
              <a:latin typeface="Avant Garde Demi SFDC" panose="020B0600000101010101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979408" y="3743960"/>
            <a:ext cx="26517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AFC9E8"/>
            </a:solidFill>
            <a:prstDash val="solid"/>
          </a:ln>
          <a:effectLst>
            <a:outerShdw blurRad="63500" dist="25400" dir="5400000" algn="bl" rotWithShape="0">
              <a:srgbClr val="001E5B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979408" y="3743960"/>
            <a:ext cx="2651760" cy="310896"/>
          </a:xfrm>
          <a:prstGeom prst="roundRect">
            <a:avLst>
              <a:gd name="adj" fmla="val 14706"/>
            </a:avLst>
          </a:prstGeom>
          <a:solidFill>
            <a:srgbClr val="00B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979408" y="3899408"/>
            <a:ext cx="2651760" cy="155448"/>
          </a:xfrm>
          <a:prstGeom prst="rect">
            <a:avLst/>
          </a:prstGeom>
          <a:solidFill>
            <a:srgbClr val="00B3FF"/>
          </a:solidFill>
          <a:ln/>
        </p:spPr>
      </p:sp>
      <p:sp>
        <p:nvSpPr>
          <p:cNvPr id="47" name="Text 45"/>
          <p:cNvSpPr/>
          <p:nvPr/>
        </p:nvSpPr>
        <p:spPr>
          <a:xfrm>
            <a:off x="9089136" y="37439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WeddingPackage__c</a:t>
            </a:r>
            <a:endParaRPr lang="en-US" sz="1150" dirty="0">
              <a:latin typeface="Avant Garde Demi SFDC" panose="020B0600000101010101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089136" y="4128008"/>
            <a:ext cx="2432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Name (Basic/Standard/Premium)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IncludedFamilies__c</a:t>
            </a:r>
            <a:endParaRPr lang="en-US" sz="900" dirty="0">
              <a:latin typeface="Avant Garde Demi SFDC" panose="020B0600000101010101" charset="0"/>
            </a:endParaRPr>
          </a:p>
          <a:p>
            <a:pPr marL="0" indent="0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900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DiscountRate__c</a:t>
            </a:r>
            <a:endParaRPr lang="en-US" sz="900" dirty="0">
              <a:latin typeface="Avant Garde Demi SFDC" panose="020B0600000101010101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017520" y="1902358"/>
            <a:ext cx="219456" cy="9144"/>
          </a:xfrm>
          <a:prstGeom prst="line">
            <a:avLst/>
          </a:prstGeom>
          <a:noFill/>
          <a:ln w="17780">
            <a:solidFill>
              <a:srgbClr val="022AC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828544" y="2829560"/>
            <a:ext cx="585216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ko-KR" altLang="en-US" dirty="0">
              <a:latin typeface="Avant Garde Demi SFDC" panose="020B0600000101010101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834640" y="283504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2AC0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1:N</a:t>
            </a:r>
            <a:endParaRPr lang="en-US" sz="850" dirty="0">
              <a:latin typeface="Avant Garde Demi SFDC" panose="020B0600000101010101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888736" y="1902358"/>
            <a:ext cx="219456" cy="9144"/>
          </a:xfrm>
          <a:prstGeom prst="line">
            <a:avLst/>
          </a:prstGeom>
          <a:noFill/>
          <a:ln w="17780">
            <a:solidFill>
              <a:srgbClr val="022AC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699760" y="2829560"/>
            <a:ext cx="585216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</p:sp>
      <p:sp>
        <p:nvSpPr>
          <p:cNvPr id="54" name="Text 52"/>
          <p:cNvSpPr/>
          <p:nvPr/>
        </p:nvSpPr>
        <p:spPr>
          <a:xfrm>
            <a:off x="5705856" y="283504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2AC0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N:1</a:t>
            </a:r>
            <a:endParaRPr lang="en-US" sz="850" dirty="0">
              <a:latin typeface="Avant Garde Demi SFDC" panose="020B0600000101010101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759952" y="1902358"/>
            <a:ext cx="219456" cy="9144"/>
          </a:xfrm>
          <a:prstGeom prst="line">
            <a:avLst/>
          </a:prstGeom>
          <a:noFill/>
          <a:ln w="17780">
            <a:solidFill>
              <a:srgbClr val="022AC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570976" y="2829560"/>
            <a:ext cx="585216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</p:sp>
      <p:sp>
        <p:nvSpPr>
          <p:cNvPr id="57" name="Text 55"/>
          <p:cNvSpPr/>
          <p:nvPr/>
        </p:nvSpPr>
        <p:spPr>
          <a:xfrm>
            <a:off x="8577072" y="283504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2AC0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N:1</a:t>
            </a:r>
            <a:endParaRPr lang="en-US" sz="850" dirty="0">
              <a:latin typeface="Avant Garde Demi SFDC" panose="020B0600000101010101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426464" y="3177032"/>
            <a:ext cx="9144" cy="566928"/>
          </a:xfrm>
          <a:prstGeom prst="line">
            <a:avLst/>
          </a:prstGeom>
          <a:noFill/>
          <a:ln w="17780">
            <a:solidFill>
              <a:srgbClr val="022AC0"/>
            </a:solidFill>
            <a:prstDash val="dash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133856" y="3341624"/>
            <a:ext cx="585216" cy="237744"/>
          </a:xfrm>
          <a:prstGeom prst="roundRect">
            <a:avLst>
              <a:gd name="adj" fmla="val 15385"/>
            </a:avLst>
          </a:prstGeom>
          <a:solidFill>
            <a:srgbClr val="CFE9FE"/>
          </a:solidFill>
          <a:ln/>
        </p:spPr>
      </p:sp>
      <p:sp>
        <p:nvSpPr>
          <p:cNvPr id="60" name="Text 58"/>
          <p:cNvSpPr/>
          <p:nvPr/>
        </p:nvSpPr>
        <p:spPr>
          <a:xfrm>
            <a:off x="1133856" y="3341624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2AC0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850" dirty="0">
              <a:latin typeface="Avant Garde Demi SFDC" panose="020B0600000101010101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3017520" y="4306316"/>
            <a:ext cx="219456" cy="9144"/>
          </a:xfrm>
          <a:prstGeom prst="line">
            <a:avLst/>
          </a:prstGeom>
          <a:noFill/>
          <a:ln w="17780">
            <a:solidFill>
              <a:srgbClr val="022AC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2828544" y="5233518"/>
            <a:ext cx="585216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</p:sp>
      <p:sp>
        <p:nvSpPr>
          <p:cNvPr id="63" name="Text 61"/>
          <p:cNvSpPr/>
          <p:nvPr/>
        </p:nvSpPr>
        <p:spPr>
          <a:xfrm>
            <a:off x="2834640" y="5239004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2AC0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1:N</a:t>
            </a:r>
            <a:endParaRPr lang="en-US" sz="850" dirty="0">
              <a:latin typeface="Avant Garde Demi SFDC" panose="020B0600000101010101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888736" y="4306316"/>
            <a:ext cx="219456" cy="9144"/>
          </a:xfrm>
          <a:prstGeom prst="line">
            <a:avLst/>
          </a:prstGeom>
          <a:noFill/>
          <a:ln w="17780">
            <a:solidFill>
              <a:srgbClr val="022AC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699760" y="5233518"/>
            <a:ext cx="585216" cy="237744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</p:sp>
      <p:sp>
        <p:nvSpPr>
          <p:cNvPr id="66" name="Text 64"/>
          <p:cNvSpPr/>
          <p:nvPr/>
        </p:nvSpPr>
        <p:spPr>
          <a:xfrm>
            <a:off x="5705856" y="5239004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2AC0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N:1</a:t>
            </a:r>
            <a:endParaRPr lang="en-US" sz="850" dirty="0">
              <a:latin typeface="Avant Garde Demi SFDC" panose="020B0600000101010101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354580" y="3177032"/>
            <a:ext cx="9144" cy="283464"/>
          </a:xfrm>
          <a:prstGeom prst="line">
            <a:avLst/>
          </a:prstGeom>
          <a:noFill/>
          <a:ln w="17780">
            <a:solidFill>
              <a:srgbClr val="00B3FF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2354580" y="3460496"/>
            <a:ext cx="7950708" cy="9144"/>
          </a:xfrm>
          <a:prstGeom prst="line">
            <a:avLst/>
          </a:prstGeom>
          <a:noFill/>
          <a:ln w="17780">
            <a:solidFill>
              <a:srgbClr val="00B3FF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10305288" y="3460496"/>
            <a:ext cx="9144" cy="283464"/>
          </a:xfrm>
          <a:prstGeom prst="line">
            <a:avLst/>
          </a:prstGeom>
          <a:noFill/>
          <a:ln w="17780">
            <a:solidFill>
              <a:srgbClr val="00B3FF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2061972" y="3323336"/>
            <a:ext cx="585216" cy="237744"/>
          </a:xfrm>
          <a:prstGeom prst="roundRect">
            <a:avLst>
              <a:gd name="adj" fmla="val 15385"/>
            </a:avLst>
          </a:prstGeom>
          <a:solidFill>
            <a:srgbClr val="CFE9FE"/>
          </a:solidFill>
          <a:ln/>
        </p:spPr>
      </p:sp>
      <p:sp>
        <p:nvSpPr>
          <p:cNvPr id="71" name="Text 69"/>
          <p:cNvSpPr/>
          <p:nvPr/>
        </p:nvSpPr>
        <p:spPr>
          <a:xfrm>
            <a:off x="2061972" y="332333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86B8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N:1</a:t>
            </a:r>
            <a:endParaRPr lang="en-US" sz="850" dirty="0">
              <a:latin typeface="Avant Garde Demi SFDC" panose="020B0600000101010101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487680" y="58272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실선 = 표준 Lookup(N:1) · 점선 = Lead Convert 액션 · 청록 화살표 = 마스터 데이터 참조</a:t>
            </a:r>
            <a:endParaRPr lang="en-US" sz="950" dirty="0">
              <a:latin typeface="Avant Garde Demi SFDC" panose="020B0600000101010101" charset="0"/>
            </a:endParaRPr>
          </a:p>
          <a:p>
            <a:pPr marL="0" indent="0">
              <a:lnSpc>
                <a:spcPct val="112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Recommendation__c는 Master-Detail 대신 Lead__c / Opportunity__c 이중 Lookup을 사용 — 전환 후에도 레코드가 재연결되어야 하므로</a:t>
            </a:r>
            <a:endParaRPr lang="en-US" sz="950" dirty="0">
              <a:latin typeface="Avant Garde Demi SFDC" panose="020B0600000101010101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OpportunityLineItem은 Salesforce 표준상 Opportunity의 Master-Detail 자식이며, PricebookEntry를 통해 Product2 · Pricebook2 표준 가격 구조를 그대로 활용</a:t>
            </a:r>
            <a:endParaRPr lang="en-US" sz="950" dirty="0">
              <a:latin typeface="Avant Garde Demi SFDC" panose="020B0600000101010101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>
              <a:latin typeface="Avant Garde Demi SFDC" panose="020B0600000101010101" charset="0"/>
            </a:endParaRPr>
          </a:p>
        </p:txBody>
      </p:sp>
      <p:sp>
        <p:nvSpPr>
          <p:cNvPr id="75" name="Text 5">
            <a:extLst>
              <a:ext uri="{FF2B5EF4-FFF2-40B4-BE49-F238E27FC236}">
                <a16:creationId xmlns:a16="http://schemas.microsoft.com/office/drawing/2014/main" id="{82F5255D-94AC-4A19-A861-7227993E0903}"/>
              </a:ext>
            </a:extLst>
          </p:cNvPr>
          <p:cNvSpPr/>
          <p:nvPr/>
        </p:nvSpPr>
        <p:spPr>
          <a:xfrm>
            <a:off x="50292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b="1" dirty="0" err="1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altLang="ko-KR" sz="32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3200" b="1" dirty="0" err="1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모델</a:t>
            </a:r>
            <a:r>
              <a:rPr lang="en-US" altLang="ko-KR" sz="3200" b="1" dirty="0">
                <a:solidFill>
                  <a:srgbClr val="001E5B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(ERD)</a:t>
            </a:r>
            <a:endParaRPr lang="en-US" altLang="ko-KR" sz="3200" dirty="0">
              <a:latin typeface="Avant Garde Demi SFDC" panose="020B0600000101010101" charset="0"/>
            </a:endParaRPr>
          </a:p>
        </p:txBody>
      </p:sp>
      <p:sp>
        <p:nvSpPr>
          <p:cNvPr id="76" name="Text 6">
            <a:extLst>
              <a:ext uri="{FF2B5EF4-FFF2-40B4-BE49-F238E27FC236}">
                <a16:creationId xmlns:a16="http://schemas.microsoft.com/office/drawing/2014/main" id="{CF905A79-9B79-44BD-B041-D0E12ED3F565}"/>
              </a:ext>
            </a:extLst>
          </p:cNvPr>
          <p:cNvSpPr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Lead </a:t>
            </a:r>
            <a:r>
              <a:rPr lang="en-US" altLang="ko-KR" sz="14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문의</a:t>
            </a:r>
            <a:r>
              <a:rPr lang="en-US" altLang="ko-KR" sz="14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단계</a:t>
            </a:r>
            <a:r>
              <a:rPr lang="en-US" altLang="ko-KR" sz="14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→ Opportunity </a:t>
            </a:r>
            <a:r>
              <a:rPr lang="en-US" altLang="ko-KR" sz="14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계약</a:t>
            </a:r>
            <a:r>
              <a:rPr lang="en-US" altLang="ko-KR" sz="14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단계</a:t>
            </a:r>
            <a:r>
              <a:rPr lang="en-US" altLang="ko-KR" sz="14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sz="14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표준</a:t>
            </a:r>
            <a:r>
              <a:rPr lang="en-US" altLang="ko-KR" sz="14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Product/Pricebook </a:t>
            </a:r>
            <a:r>
              <a:rPr lang="en-US" altLang="ko-KR" sz="14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구조까지</a:t>
            </a:r>
            <a:r>
              <a:rPr lang="en-US" altLang="ko-KR" sz="1400" dirty="0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400" dirty="0" err="1">
                <a:solidFill>
                  <a:srgbClr val="44567F"/>
                </a:solidFill>
                <a:latin typeface="Avant Garde Demi SFDC" panose="020B0600000101010101" charset="0"/>
                <a:ea typeface="Arial" pitchFamily="34" charset="-122"/>
                <a:cs typeface="Arial" pitchFamily="34" charset="-120"/>
              </a:rPr>
              <a:t>반영</a:t>
            </a:r>
            <a:endParaRPr lang="en-US" altLang="ko-KR" sz="1400" dirty="0">
              <a:latin typeface="Avant Garde Demi SFDC" panose="020B0600000101010101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38"/>
          <p:cNvSpPr txBox="1">
            <a:spLocks noGrp="1"/>
          </p:cNvSpPr>
          <p:nvPr>
            <p:ph type="title" idx="4294967295"/>
          </p:nvPr>
        </p:nvSpPr>
        <p:spPr>
          <a:xfrm>
            <a:off x="-18100" y="6959600"/>
            <a:ext cx="2653400" cy="2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sz="533"/>
              <a:t>Closing Thank You</a:t>
            </a:r>
            <a:endParaRPr sz="533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E55BD4-46A0-4B0D-8A62-E6E88DE66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100" y="-71120"/>
            <a:ext cx="12210099" cy="703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820</Words>
  <Application>Microsoft Office PowerPoint</Application>
  <PresentationFormat>와이드스크린</PresentationFormat>
  <Paragraphs>144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맑은 고딕</vt:lpstr>
      <vt:lpstr>Arial</vt:lpstr>
      <vt:lpstr>Avant Garde Demi SFDC</vt:lpstr>
      <vt:lpstr>Calibri</vt:lpstr>
      <vt:lpstr>Calibri Light</vt:lpstr>
      <vt:lpstr>Questrial</vt:lpstr>
      <vt:lpstr>Salesforce Sans</vt:lpstr>
      <vt:lpstr>Office Theme</vt:lpstr>
      <vt:lpstr>SMC:</vt:lpstr>
      <vt:lpstr>PowerPoint 프레젠테이션</vt:lpstr>
      <vt:lpstr>PowerPoint 프레젠테이션</vt:lpstr>
      <vt:lpstr>PowerPoint 프레젠테이션</vt:lpstr>
      <vt:lpstr>PowerPoint 프레젠테이션</vt:lpstr>
      <vt:lpstr>Closing 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7</cp:revision>
  <dcterms:created xsi:type="dcterms:W3CDTF">2026-07-24T05:13:55Z</dcterms:created>
  <dcterms:modified xsi:type="dcterms:W3CDTF">2026-07-24T05:56:25Z</dcterms:modified>
</cp:coreProperties>
</file>